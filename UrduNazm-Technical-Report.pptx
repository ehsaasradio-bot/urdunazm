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00" cy="3657600"/>
          </a:xfrm>
          <a:prstGeom prst="ellipse">
            <a:avLst/>
          </a:prstGeom>
          <a:solidFill>
            <a:srgbClr val="0D0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4572000" cy="3657600"/>
          </a:xfrm>
          <a:prstGeom prst="ellipse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UrduNazm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A78BFA"/>
                </a:solidFill>
                <a:latin typeface="Calibri"/>
              </a:rPr>
              <a:t>Full Technical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Tech Stack  ·  SEO  ·  Security  ·  Performance  ·  Accessibility  ·  Issues  · 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31920"/>
            <a:ext cx="103327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AA8"/>
                </a:solidFill>
                <a:latin typeface="Calibri"/>
              </a:rPr>
              <a:t>🌐  urdu-nazm-trce.vercel.app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AA8"/>
                </a:solidFill>
                <a:latin typeface="Calibri"/>
              </a:rPr>
              <a:t>📅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AA8"/>
                </a:solidFill>
                <a:latin typeface="Calibri"/>
              </a:rPr>
              <a:t>⚙️  13 Phases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Calibri"/>
              </a:rPr>
              <a:t>🚀  Production ·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Overall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41278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6998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6998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SEO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2557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8277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923C"/>
                </a:solidFill>
                <a:latin typeface="Calibri"/>
              </a:rPr>
              <a:t>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8277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836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9556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0A5FA"/>
                </a:solidFill>
                <a:latin typeface="Calibri"/>
              </a:rPr>
              <a:t>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9556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Performance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5115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835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</a:rPr>
              <a:t>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835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A11y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06394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2114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2114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Mobile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47673" y="5029200"/>
            <a:ext cx="1741278" cy="1828800"/>
          </a:xfrm>
          <a:prstGeom prst="rect">
            <a:avLst/>
          </a:prstGeom>
          <a:solidFill>
            <a:srgbClr val="0E0E16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3393" y="5303520"/>
            <a:ext cx="164983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6E"/>
                </a:solidFill>
                <a:latin typeface="Calibri"/>
              </a:rPr>
              <a:t>13/13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3393" y="6035040"/>
            <a:ext cx="16498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Full-stack modern web application with AI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4A6A"/>
                </a:solidFill>
                <a:latin typeface="Calibri"/>
              </a:rPr>
              <a:t>USER /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376672" cy="658368"/>
          </a:xfrm>
          <a:prstGeom prst="roundRect">
            <a:avLst/>
          </a:prstGeom>
          <a:solidFill>
            <a:srgbClr val="1A0D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36192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Chrome · Safari · Firefox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81328"/>
            <a:ext cx="5376672" cy="658368"/>
          </a:xfrm>
          <a:prstGeom prst="roundRect">
            <a:avLst/>
          </a:prstGeom>
          <a:solidFill>
            <a:srgbClr val="1A0D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536192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81051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iOS &amp;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2128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577840" y="22128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140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4A6A"/>
                </a:solidFill>
                <a:latin typeface="Calibri"/>
              </a:rPr>
              <a:t>FRONTEND — Next.js 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15184"/>
            <a:ext cx="3547872" cy="658368"/>
          </a:xfrm>
          <a:prstGeom prst="roundRect">
            <a:avLst/>
          </a:prstGeom>
          <a:solidFill>
            <a:srgbClr val="0612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6700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Next.js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App Router · TypeScript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615184"/>
            <a:ext cx="3547872" cy="658368"/>
          </a:xfrm>
          <a:prstGeom prst="roundRect">
            <a:avLst/>
          </a:prstGeom>
          <a:solidFill>
            <a:srgbClr val="0612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26700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Tailwind 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CSS-first @theme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615184"/>
            <a:ext cx="3547872" cy="658368"/>
          </a:xfrm>
          <a:prstGeom prst="roundRect">
            <a:avLst/>
          </a:prstGeom>
          <a:solidFill>
            <a:srgbClr val="0612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6700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React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Server + Client RSC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3467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577840" y="33467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  <a:latin typeface="Calibr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478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4A6A"/>
                </a:solidFill>
                <a:latin typeface="Calibri"/>
              </a:rPr>
              <a:t>HOSTING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49040"/>
            <a:ext cx="5376672" cy="658368"/>
          </a:xfrm>
          <a:prstGeom prst="roundRect">
            <a:avLst/>
          </a:prstGeom>
          <a:solidFill>
            <a:srgbClr val="041E1C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803904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Vercel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078224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Edge CDN · Auto-deploy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749040"/>
            <a:ext cx="5376672" cy="658368"/>
          </a:xfrm>
          <a:prstGeom prst="roundRect">
            <a:avLst/>
          </a:prstGeom>
          <a:solidFill>
            <a:srgbClr val="041E1C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3803904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4078224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Version Control · 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480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77840" y="44805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  <a:latin typeface="Calibri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4A6A"/>
                </a:solidFill>
                <a:latin typeface="Calibri"/>
              </a:rPr>
              <a:t>BACKEND SERVICES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882896"/>
            <a:ext cx="3547872" cy="658368"/>
          </a:xfrm>
          <a:prstGeom prst="roundRect">
            <a:avLst/>
          </a:prstGeom>
          <a:solidFill>
            <a:srgbClr val="1E1606"/>
          </a:solidFill>
          <a:ln w="1524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493775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Calibri"/>
              </a:rPr>
              <a:t>Supabase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521208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PostgreSQL · Auth · RLS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882896"/>
            <a:ext cx="3547872" cy="658368"/>
          </a:xfrm>
          <a:prstGeom prst="roundRect">
            <a:avLst/>
          </a:prstGeom>
          <a:solidFill>
            <a:srgbClr val="1E1606"/>
          </a:solidFill>
          <a:ln w="1524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93775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Calibri"/>
              </a:rPr>
              <a:t>OpenAI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521208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gpt-4o-mini · SSE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882896"/>
            <a:ext cx="3547872" cy="658368"/>
          </a:xfrm>
          <a:prstGeom prst="roundRect">
            <a:avLst/>
          </a:prstGeom>
          <a:solidFill>
            <a:srgbClr val="1E1606"/>
          </a:solidFill>
          <a:ln w="1524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493775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6E"/>
                </a:solidFill>
                <a:latin typeface="Calibri"/>
              </a:rPr>
              <a:t>Google OAuth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27848" y="521208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Social Login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614416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577840" y="56144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  <a:latin typeface="Calibri"/>
              </a:rPr>
              <a:t>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1558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4A6A"/>
                </a:solidFill>
                <a:latin typeface="Calibri"/>
              </a:rPr>
              <a:t>DATA LAYER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016751"/>
            <a:ext cx="5376672" cy="658368"/>
          </a:xfrm>
          <a:prstGeom prst="roundRect">
            <a:avLst/>
          </a:prstGeom>
          <a:solidFill>
            <a:srgbClr val="061C0D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6071615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PostgreSQL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6345936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Poems · Poets · Blogs · Bookmarks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9320" y="6016751"/>
            <a:ext cx="5376672" cy="658368"/>
          </a:xfrm>
          <a:prstGeom prst="roundRect">
            <a:avLst/>
          </a:prstGeom>
          <a:solidFill>
            <a:srgbClr val="061C0D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8" y="6071615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RLS Policies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9048" y="6345936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Row-level security per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13 Phases — All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Every feature shipped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984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 Setup &amp;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3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Next.js 15 · TypeScript · Tailwind v4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73351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7556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Design System &amp; Aurora 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Violet/Blue/Teal palette · Gulzar font · CSS @theme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305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22128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1945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Database Schema &amp; 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3774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PostgreSQL · RLS · Seed data ·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877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26700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70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651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834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Hero · FeaturedPoems · FeaturedPoets · Verse of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449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31272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272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Poets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291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Listing by era · Poet profile · SEO 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021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35844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84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566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Poems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4903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Listing · Full view · Urdu/English · BookmarkButton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593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40416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416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023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206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Listing · Category filters · Article detail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165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09360" y="12984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1298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1280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Google Authentication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146303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Supabase OAuth · SSR sessions · Middleware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1673351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09360" y="17556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17556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1737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Bookmarks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1920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Optimistic UI · User page · RLS queries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1305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09360" y="22128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2212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1945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23774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Cmd+K modal · Debounced · URL-synced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25877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09360" y="26700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26700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2651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834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OpenAI SSE streaming · Suggested prompts · Stop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30449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09360" y="31272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31272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SEO &amp; Polish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3291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JSON-LD · Sitemap · Robots · Loading skeletons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35021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09360" y="3584448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3584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3566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Deploy to Vercel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374903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Production · Env vars · OAuth config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3959352"/>
            <a:ext cx="512064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515600" y="6126480"/>
            <a:ext cx="1280160" cy="457200"/>
          </a:xfrm>
          <a:prstGeom prst="roundRect">
            <a:avLst/>
          </a:prstGeom>
          <a:solidFill>
            <a:srgbClr val="061A0D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15600" y="61539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✅ 13/13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Score: 92/100 — Strong foundation with minor gaps</a:t>
            </a:r>
          </a:p>
        </p:txBody>
      </p:sp>
      <p:sp>
        <p:nvSpPr>
          <p:cNvPr id="5" name="Oval 4"/>
          <p:cNvSpPr/>
          <p:nvPr/>
        </p:nvSpPr>
        <p:spPr>
          <a:xfrm>
            <a:off x="9875520" y="182880"/>
            <a:ext cx="1554480" cy="1554480"/>
          </a:xfrm>
          <a:prstGeom prst="ellipse">
            <a:avLst/>
          </a:prstGeom>
          <a:solidFill>
            <a:srgbClr val="041408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02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ADE80"/>
                </a:solidFill>
                <a:latin typeface="Calibri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SEO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Dynamic Sitemap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Auto-generated sitemap.ts — all pages included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28216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282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282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robots.ts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83664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Proper rules — disallows /api/, /login/, /chat/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30552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305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1305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Global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86000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Title template, OG, Twitter Card, canonical in layout.tsx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32888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32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53288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generateMetadata()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688336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Per-page dynamic metadata on all detail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35224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352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93522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JSON-LD Structured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090672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WebSite, Person, CreativeWork, BlogPosting schemas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37560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33756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Bilingual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9300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og:locale alternates en_US + ur_PK, Urdu keywords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39896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398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73989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Server-Side Rendering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95344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All content pages are RSC — fully crawlable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142232"/>
            <a:ext cx="256032" cy="256032"/>
          </a:xfrm>
          <a:prstGeom prst="roundRect">
            <a:avLst/>
          </a:prstGeom>
          <a:solidFill>
            <a:srgbClr val="06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422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14223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Semantic 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297680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h1/h2/h3 hierarchy, main landmark, article/section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051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alibri"/>
              </a:rPr>
              <a:t>Gaps &amp; Opportunities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1325880"/>
            <a:ext cx="256032" cy="256032"/>
          </a:xfrm>
          <a:prstGeom prst="roundRect">
            <a:avLst/>
          </a:prstGeom>
          <a:solidFill>
            <a:srgbClr val="1A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3258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32588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OG Image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148132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Missing og:image — affects social link previews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728216"/>
            <a:ext cx="256032" cy="256032"/>
          </a:xfrm>
          <a:prstGeom prst="roundRect">
            <a:avLst/>
          </a:prstGeom>
          <a:solidFill>
            <a:srgbClr val="1A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17282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17282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Google Search Console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883664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Sitemap not yet submitted to GSC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2130552"/>
            <a:ext cx="256032" cy="256032"/>
          </a:xfrm>
          <a:prstGeom prst="roundRect">
            <a:avLst/>
          </a:prstGeom>
          <a:solidFill>
            <a:srgbClr val="1A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1305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21305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Hreflang Tags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2286000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Bilingual pages should declare lang alternates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2532888"/>
            <a:ext cx="256032" cy="256032"/>
          </a:xfrm>
          <a:prstGeom prst="roundRect">
            <a:avLst/>
          </a:prstGeom>
          <a:solidFill>
            <a:srgbClr val="1A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2532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253288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Custom Domain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688336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vercel.app subdomain limits SEO brand authority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029200"/>
            <a:ext cx="1234439" cy="118872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212080"/>
            <a:ext cx="123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DE80"/>
                </a:solidFill>
                <a:latin typeface="Calibri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7607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8AA8"/>
                </a:solidFill>
                <a:latin typeface="Calibri"/>
              </a:rPr>
              <a:t>Pages Crawlable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5029200"/>
            <a:ext cx="1234439" cy="118872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5212080"/>
            <a:ext cx="123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DE80"/>
                </a:solidFill>
                <a:latin typeface="Calibri"/>
              </a:rP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57607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8AA8"/>
                </a:solidFill>
                <a:latin typeface="Calibri"/>
              </a:rPr>
              <a:t>Schema Coverage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19" y="5029200"/>
            <a:ext cx="1234439" cy="118872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19" y="5212080"/>
            <a:ext cx="123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A5FA"/>
                </a:solidFill>
                <a:latin typeface="Calibri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19" y="57607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8AA8"/>
                </a:solidFill>
                <a:latin typeface="Calibri"/>
              </a:rPr>
              <a:t>Meta Tags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6999" y="5029200"/>
            <a:ext cx="1234439" cy="118872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86999" y="5212080"/>
            <a:ext cx="123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923C"/>
                </a:solidFill>
                <a:latin typeface="Calibri"/>
              </a:rPr>
              <a:t>60%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86999" y="576072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8AA8"/>
                </a:solidFill>
                <a:latin typeface="Calibri"/>
              </a:rPr>
              <a:t>Social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Score: 74/100 — 1 critical vulnerability requires immediate attention</a:t>
            </a:r>
          </a:p>
        </p:txBody>
      </p:sp>
      <p:sp>
        <p:nvSpPr>
          <p:cNvPr id="5" name="Oval 4"/>
          <p:cNvSpPr/>
          <p:nvPr/>
        </p:nvSpPr>
        <p:spPr>
          <a:xfrm>
            <a:off x="9875520" y="182880"/>
            <a:ext cx="1554480" cy="1554480"/>
          </a:xfrm>
          <a:prstGeom prst="ellipse">
            <a:avLst/>
          </a:prstGeom>
          <a:solidFill>
            <a:srgbClr val="1E0A04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502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923C"/>
                </a:solidFill>
                <a:latin typeface="Calibri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1A0505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533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🚨  CRITICAL: XSS — dangerouslySetInnerHTML without sanitization in blog/[slug]/page.tsx:95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Fix: npm install isomorphic-dompurify  →  wrap blog.content_en in DOMPurify.sanitize() before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Supabase RLS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9572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Row-level security — users see only their own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SSR Auth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@supabase/ssr — no tokens exposed in client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266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2666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Middleware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82112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/bookmarks redirects unauthenticated to /login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19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1985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Env Variables in .gitignore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75304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Keys never committed to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130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1304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HTTPS Enforced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Vercel enforces HTTPS — all traffic encrypted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0624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SQL Injection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Supabase JS client uses parameterized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24028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XSS — Blog HTML [CRITICAL]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395728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dangerouslySetInnerHTML without DOMPurify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334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63347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Rate Limiting on /api/chat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788920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OpenAI cost abuse vector — add @upstash/ratelimit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0266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02666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ignoreBuildErrors: 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182112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Masks TypeScript errors — restore after fixing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419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41985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Content Security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575304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Missing CSP headers in next.config.ts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8130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81304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&lt;img&gt; missing alt in UserMenu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968496"/>
            <a:ext cx="5029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AA8"/>
                </a:solidFill>
                <a:latin typeface="Calibri"/>
              </a:rPr>
              <a:t>Replace with Next.js Image + alt attribute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Performance &amp;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139696" cy="914400"/>
          </a:xfrm>
          <a:prstGeom prst="rect">
            <a:avLst/>
          </a:prstGeom>
          <a:solidFill>
            <a:srgbClr val="13131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0A5FA"/>
                </a:solidFill>
                <a:latin typeface="Calibri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6624" y="960120"/>
            <a:ext cx="2139696" cy="914400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024128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~1.2s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Est. LCP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960120"/>
            <a:ext cx="2139696" cy="914400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024128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&lt;100ms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TTFB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5472" y="960120"/>
            <a:ext cx="2139696" cy="914400"/>
          </a:xfrm>
          <a:prstGeom prst="rect">
            <a:avLst/>
          </a:prstGeom>
          <a:solidFill>
            <a:srgbClr val="13131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024128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</a:rPr>
              <a:t>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Accessibility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960120"/>
            <a:ext cx="2139696" cy="914400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1024128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8AA8"/>
                </a:solidFill>
                <a:latin typeface="Calibri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⚡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23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Server Components — reduces client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15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Next.js Image — WebP/AVIF auto-optimization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0837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Font display: swap — no render blocking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0098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Parallel data fetching — Promise.all()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935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Loading skeletons — 6 route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8619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SSE Streaming — AI chat token-by-token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7880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⚠️  No ISR — pages re-fetch on every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714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⚠️  No generateStaticParams — add for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57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♿ 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23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Skip-to-content 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715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ARIA labels on all interactive elements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00837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aria-hidden on decorative SVG icons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0098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Semantic HTML — nav/main/section/article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5935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Reduced motion @media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8619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✅  Keyboard navigation throughout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17880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⚠️  &lt;img&gt; missing alt text in UserMenu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4714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⚠️  No focus trap in SearchModal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764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AA8"/>
                </a:solidFill>
                <a:latin typeface="Calibri"/>
              </a:rPr>
              <a:t>💡  Add aria-live to AI chat streaming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Issues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5 Open · 8 Closed · 1 Critical requiring immediate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AA8"/>
                </a:solidFill>
                <a:latin typeface="Calibri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AA8"/>
                </a:solidFill>
                <a:latin typeface="Calibri"/>
              </a:rP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AA8"/>
                </a:solidFill>
                <a:latin typeface="Calibri"/>
              </a:rPr>
              <a:t>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AA8"/>
                </a:solidFill>
                <a:latin typeface="Calibri"/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73352"/>
            <a:ext cx="11247120" cy="384048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73352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691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#001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91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XSS — dangerouslySetInnerHTML on blog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1719072"/>
            <a:ext cx="1371600" cy="23774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719072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D4BF"/>
                </a:solidFill>
                <a:latin typeface="Calibri"/>
              </a:rPr>
              <a:t>Install isomorphic-dompurify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47120" cy="384048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103120"/>
            <a:ext cx="54864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121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#002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1214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rate limiting on /api/chat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8" y="2148840"/>
            <a:ext cx="1371600" cy="237744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14884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121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D4BF"/>
                </a:solidFill>
                <a:latin typeface="Calibri"/>
              </a:rPr>
              <a:t>Add @upstash/ratelimit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32888"/>
            <a:ext cx="11247120" cy="384048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532888"/>
            <a:ext cx="54864" cy="38404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5511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#003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5511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ignoreBuildErrors: true in next.config.ts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2578608"/>
            <a:ext cx="1371600" cy="237744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2578608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2551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D4BF"/>
                </a:solidFill>
                <a:latin typeface="Calibri"/>
              </a:rPr>
              <a:t>Fix types, remove flag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962656"/>
            <a:ext cx="11247120" cy="384048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962656"/>
            <a:ext cx="54864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2980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#004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29809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Missing OG image for social sharing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50608" y="3008375"/>
            <a:ext cx="1371600" cy="23774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3008375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2980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D4BF"/>
                </a:solidFill>
                <a:latin typeface="Calibri"/>
              </a:rPr>
              <a:t>Create opengraph-image.tsx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92423"/>
            <a:ext cx="11247120" cy="384048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392423"/>
            <a:ext cx="54864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41071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6A"/>
                </a:solidFill>
                <a:latin typeface="Calibri"/>
              </a:rPr>
              <a:t>#005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3410711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&lt;img&gt; tag in UserMenu — no alt, no Next Image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50608" y="3438143"/>
            <a:ext cx="1371600" cy="23774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0608" y="3438143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4107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D4BF"/>
                </a:solidFill>
                <a:latin typeface="Calibri"/>
              </a:rPr>
              <a:t>Replace with &lt;Image&gt; + alt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✅ Closed Issues (8)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isBookmarked called with slug instead of poemId → Fixed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00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openai Module not found → npm install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0840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poemSchema type error — category object not string → Fixed jsonld.ts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468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SearchModal Supabase join type cast failed → cast through unknown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Vercel build TypeScript errors → ignoreBuildErrors: true (temp)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700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Google OAuth not enabled in Supabase → Configured provider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0840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Supabase auth redirect not set for production → Added vercel.app URL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468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8AA8"/>
                </a:solidFill>
                <a:latin typeface="Calibri"/>
              </a:rPr>
              <a:t>✓  Hero section spacing too far from navbar → Locked as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Enhancement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AA8"/>
                </a:solidFill>
                <a:latin typeface="Calibri"/>
              </a:rPr>
              <a:t>Prioritized action plan — from critical fixes to future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" cy="6400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80160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  <a:latin typeface="Calibri"/>
              </a:rPr>
              <a:t>🔴 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3350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16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Fix XSS — Sanitize blog HTML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727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npm install isomorphic-dompurify. Wrap content in DOMPurify.sanitize(). 30 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1463039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0" y="147218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  <a:latin typeface="Calibri"/>
              </a:rPr>
              <a:t>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93391"/>
            <a:ext cx="64008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993391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048255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  <a:latin typeface="Calibri"/>
              </a:rPr>
              <a:t>🟠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48255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02996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Add Rate Limiting to /api/chat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8599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Use @upstash/ratelimit with Redis. Limit 20 req/hr per IP. Protects OpenAI costs. 2 hrs.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176272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185415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Calibri"/>
              </a:rPr>
              <a:t>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06624"/>
            <a:ext cx="64008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706624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614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  <a:latin typeface="Calibri"/>
              </a:rPr>
              <a:t>🟠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7614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Fix TypeScript &amp; remove ignoreBuildErrors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9992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Properly type SearchModal queries. Remove flag from next.config.ts. 1 hr.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2889504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89864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Calibri"/>
              </a:rPr>
              <a:t>Code Quality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19856"/>
            <a:ext cx="64008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419856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74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  <a:latin typeface="Calibri"/>
              </a:rPr>
              <a:t>🟠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4747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456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Connect Custom Domain urdunazm.com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71246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Register domain, add to Vercel, update Supabase redirect URL, update metadataBase.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3602736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361188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Calibri"/>
              </a:rPr>
              <a:t>SEO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33088"/>
            <a:ext cx="64008" cy="6400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133088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187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ACC15"/>
                </a:solidFill>
                <a:latin typeface="Calibri"/>
              </a:rPr>
              <a:t>🟡 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187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1696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Add ISR (Incremental Static Regeneration)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44256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Add export const revalidate = 3600 to poem/poet/blog pages. Huge perf gain.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20" y="4315968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0" y="432511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ACC15"/>
                </a:solidFill>
                <a:latin typeface="Calibri"/>
              </a:rPr>
              <a:t>Performance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46320"/>
            <a:ext cx="64008" cy="6400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4846320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90118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ACC15"/>
                </a:solidFill>
                <a:latin typeface="Calibri"/>
              </a:rPr>
              <a:t>🟡 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490118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882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Create OG Image (opengraph-image.tsx)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1389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Dynamic OG images for poems/poets using @vercel/og. Critical for social sharing.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20" y="5029200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503834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ACC15"/>
                </a:solidFill>
                <a:latin typeface="Calibri"/>
              </a:rPr>
              <a:t>SEO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59552"/>
            <a:ext cx="64008" cy="6400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5559552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61441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ACC15"/>
                </a:solidFill>
                <a:latin typeface="Calibri"/>
              </a:rPr>
              <a:t>🟡 MEDIUM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56144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596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Submit to Google Search Console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852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Verify site, submit sitemap.xml, monitor indexing and Core Web Vitals.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32720" y="5742432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32720" y="575157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ACC15"/>
                </a:solidFill>
                <a:latin typeface="Calibri"/>
              </a:rPr>
              <a:t>SEO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272784"/>
            <a:ext cx="64008" cy="6400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" y="6272784"/>
            <a:ext cx="11137392" cy="640080"/>
          </a:xfrm>
          <a:prstGeom prst="rect">
            <a:avLst/>
          </a:prstGeom>
          <a:solidFill>
            <a:srgbClr val="13131F"/>
          </a:solidFill>
          <a:ln w="6350">
            <a:solidFill>
              <a:srgbClr val="1E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  <a:latin typeface="Calibri"/>
              </a:rPr>
              <a:t>🔵 FUTURE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91640" y="6327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6A"/>
                </a:solidFill>
                <a:latin typeface="Calibri"/>
              </a:rPr>
              <a:t>#008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6309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Audio Recitations, Admin CMS, Comments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5653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AA8"/>
                </a:solidFill>
                <a:latin typeface="Calibri"/>
              </a:rPr>
              <a:t>Supabase Storage for MP3s · Admin CRUD panel · Real-time comments system.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32720" y="6455664"/>
            <a:ext cx="1234440" cy="23774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32720" y="646480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A5FA"/>
                </a:solidFill>
                <a:latin typeface="Calibri"/>
              </a:rPr>
              <a:t>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UrduNazm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  <a:latin typeface="Calibri"/>
              </a:rPr>
              <a:t>is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8AA8"/>
                </a:solidFill>
                <a:latin typeface="Calibri"/>
              </a:rPr>
              <a:t>Production-ready Urdu &amp; English
poetry platform with 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4114800" cy="127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  <a:latin typeface="Calibri"/>
              </a:rPr>
              <a:t>🌐  urdu-nazm-trce.vercel.app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AA8"/>
                </a:solidFill>
                <a:latin typeface="Calibri"/>
              </a:rPr>
              <a:t>Built with Next.js 15 · Supabase · 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  <a:latin typeface="Calibri"/>
              </a:rPr>
              <a:t>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ADE80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40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Phases
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42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0A5FA"/>
                </a:solidFill>
                <a:latin typeface="Calibri"/>
              </a:rPr>
              <a:t>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440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SEO
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342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923C"/>
                </a:solidFill>
                <a:latin typeface="Calibri"/>
              </a:rPr>
              <a:t>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440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Security
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286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628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78BFA"/>
                </a:solidFill>
                <a:latin typeface="Calibri"/>
              </a:rPr>
              <a:t>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726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Performance
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286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628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D4BF"/>
                </a:solidFill>
                <a:latin typeface="Calibri"/>
              </a:rPr>
              <a:t>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726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Accessibility
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286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628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ADE80"/>
                </a:solidFill>
                <a:latin typeface="Calibri"/>
              </a:rPr>
              <a:t>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726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Mobile
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4572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914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923C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6012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Open
Issues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4572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914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ADE80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012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Closed
Issues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4572000"/>
            <a:ext cx="2231136" cy="2231136"/>
          </a:xfrm>
          <a:prstGeom prst="rect">
            <a:avLst/>
          </a:prstGeom>
          <a:solidFill>
            <a:srgbClr val="13131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914900"/>
            <a:ext cx="2231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87171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6012180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AA8"/>
                </a:solidFill>
                <a:latin typeface="Calibri"/>
              </a:rPr>
              <a:t>Critical
Fix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